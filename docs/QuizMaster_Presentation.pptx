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9999BB"/>
                </a:solidFill>
                <a:latin typeface="Arial"/>
              </a:defRPr>
            </a:pPr>
            <a:r>
              <a:t>🎯 QuizMaster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828800"/>
            <a:ext cx="9144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5200" b="1">
                <a:solidFill>
                  <a:srgbClr val="FFFFFF"/>
                </a:solidFill>
                <a:latin typeface="Arial"/>
              </a:defRPr>
            </a:pPr>
            <a:r>
              <a:t>Interactive Real-Time</a:t>
            </a:r>
            <a:br/>
            <a:r>
              <a:t>Quiz Platform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747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0">
                <a:solidFill>
                  <a:srgbClr val="BBBBDD"/>
                </a:solidFill>
                <a:latin typeface="Arial"/>
              </a:defRPr>
            </a:pPr>
            <a:r>
              <a:t>Web Application MVP — Project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5720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BB"/>
                </a:solidFill>
                <a:latin typeface="Arial"/>
              </a:defRPr>
            </a:pPr>
            <a:r>
              <a:t>Stack:  React · Express · Socket.IO · SQLite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9999BB"/>
                </a:solidFill>
                <a:latin typeface="Arial"/>
              </a:defRPr>
            </a:pPr>
            <a:r>
              <a:t>Development:  ~5 Days · 39 Source Files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8888AA"/>
                </a:solidFill>
                <a:latin typeface="Arial"/>
              </a:defRPr>
            </a:pPr>
            <a:r>
              <a:t>1 / 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Project 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00584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0">
                <a:solidFill>
                  <a:srgbClr val="64748B"/>
                </a:solidFill>
                <a:latin typeface="Arial"/>
              </a:defRPr>
            </a:pPr>
            <a:r>
              <a:t>A full-stack web application for creating and conducting live quizzes with real-time interaction.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01168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📝  Quiz Creation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4 question types: text &amp; image,</a:t>
            </a:r>
            <a:br/>
            <a:r>
              <a:t>single &amp; multiple choice.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01168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⚡  Real-Time Play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Questions sync via WebSocket.</a:t>
            </a:r>
            <a:br/>
            <a:r>
              <a:t>Countdown timers per question.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38159" y="201168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🏆  Live Leaderboard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Auto-scoring. Final rankings with</a:t>
            </a:r>
            <a:br/>
            <a:r>
              <a:t>score, accuracy &amp; response time.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43891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🔑  Room Codes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6-character codes for instant</a:t>
            </a:r>
            <a:br/>
            <a:r>
              <a:t>joining. No links, no invites.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43891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👤  Dual Roles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Organizer dashboard + Participant</a:t>
            </a:r>
            <a:br/>
            <a:r>
              <a:t>interface for seamless gameplay.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38159" y="4389120"/>
            <a:ext cx="3474720" cy="21031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📊  History &amp; Stats</a:t>
            </a:r>
          </a:p>
          <a:p>
            <a:pPr>
              <a:spcBef>
                <a:spcPts val="600"/>
              </a:spcBef>
              <a:defRPr sz="1300">
                <a:solidFill>
                  <a:srgbClr val="64748B"/>
                </a:solidFill>
                <a:latin typeface="Arial"/>
              </a:defRPr>
            </a:pPr>
            <a:r>
              <a:t>Personal profiles with participation</a:t>
            </a:r>
            <a:br/>
            <a:r>
              <a:t>history &amp; performance metrics.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Arial"/>
              </a:defRPr>
            </a:pPr>
            <a:r>
              <a:t>2 / 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Arial"/>
              </a:defRPr>
            </a:pPr>
            <a:r>
              <a:t>🖥  Frontend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94560"/>
          <a:ext cx="50292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Choice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Framework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React 18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Build Tool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Vite 5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Styling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Tailwind CSS 3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Routing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React Router 6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Real-Time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Socket.IO Client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HTTP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Fetch API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64592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3B82F6"/>
                </a:solidFill>
                <a:latin typeface="Arial"/>
              </a:defRPr>
            </a:pPr>
            <a:r>
              <a:t>⚙  Backend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194560"/>
          <a:ext cx="502920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Component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Choice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Runtime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Node.js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Framework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Express 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Database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SQLite (better-sqlite3)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Real-Time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Socket.IO 4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Auth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JWT (jsonwebtoken)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Validation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express-validator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029200"/>
            <a:ext cx="10881360" cy="1005840"/>
          </a:xfrm>
          <a:prstGeom prst="round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500">
                <a:solidFill>
                  <a:srgbClr val="BBCCDD"/>
                </a:solidFill>
                <a:latin typeface="Arial"/>
              </a:defRPr>
            </a:pPr>
            <a:r>
              <a:t>Key Decision:  Single language (JavaScript) across the entire stack. SQLite requires zero configuration — ideal for rapid prototyping.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Arial"/>
              </a:defRPr>
            </a:pPr>
            <a:r>
              <a:t>3 / 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Technology Rationale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Arial"/>
              </a:defRPr>
            </a:pPr>
            <a:r>
              <a:t>✅  Chosen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5303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Technology</a:t>
                      </a:r>
                    </a:p>
                  </a:txBody>
                  <a:tcPr marL="91440" marR="91440" marT="45720" marB="45720">
                    <a:solidFill>
                      <a:srgbClr val="16653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Rationale</a:t>
                      </a:r>
                    </a:p>
                  </a:txBody>
                  <a:tcPr marL="91440" marR="91440" marT="45720" marB="45720">
                    <a:solidFill>
                      <a:srgbClr val="166534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Express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Lightweight, vast middleware ecosystem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SQLite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Zero-config, file-based, sync API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Socket.IO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Auto-reconnect, rooms, polling fallback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Vite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Instant HMR, 10× faster than Webpack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Tailwind CSS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Utility-first, tiny production bundle (~5KB)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JWT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Stateless, works with WebSocket auth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DC2626"/>
                </a:solidFill>
                <a:latin typeface="Arial"/>
              </a:defRPr>
            </a:pPr>
            <a:r>
              <a:t>❌  Not Chosen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103120"/>
          <a:ext cx="5303520" cy="224027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3291840"/>
              </a:tblGrid>
              <a:tr h="320039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Alternative</a:t>
                      </a:r>
                    </a:p>
                  </a:txBody>
                  <a:tcPr marL="91440" marR="91440" marT="45720" marB="45720">
                    <a:solidFill>
                      <a:srgbClr val="DC262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Reason for Rejection</a:t>
                      </a:r>
                    </a:p>
                  </a:txBody>
                  <a:tcPr marL="91440" marR="91440" marT="45720" marB="45720">
                    <a:solidFill>
                      <a:srgbClr val="DC2626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Next.js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Overkill for SPA; adds SSR complexity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MongoDB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External server needed; data is relational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PostgreSQL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Setup overhead for MVP stage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Redux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Excessive boilerplate; Context API suffices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39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Webpack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Slower dev server; complex configuration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5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SASS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Separate files; slower iteration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Arial"/>
              </a:defRPr>
            </a:pPr>
            <a:r>
              <a:t>4 / 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Database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Arial"/>
              </a:defRPr>
            </a:pPr>
            <a:r>
              <a:t>Core Entities (6 Tables)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5029200" cy="2560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274320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Table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users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Authentication, role-based access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quizzes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Quiz metadata, settings, ownership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questions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4 types, points, time limits, ordering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options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Answer choices with correctness flag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quiz_sessions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Room codes, lifecycle state machine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participants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Join records, cumulative scores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answers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Response tracking, grading, timing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Arial"/>
              </a:defRPr>
            </a:pPr>
            <a:r>
              <a:t>Key Design Decisions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210312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 Foreign keys with CASCADE for clean deletion</a:t>
            </a:r>
          </a:p>
          <a:p>
            <a:pPr>
              <a:spcBef>
                <a:spcPts val="800"/>
              </a:spcBef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 JSON column for selected_option_ids</a:t>
            </a:r>
          </a:p>
          <a:p>
            <a:pPr>
              <a:spcBef>
                <a:spcPts val="800"/>
              </a:spcBef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 Room codes exclude 0/O and 1/I</a:t>
            </a:r>
          </a:p>
          <a:p>
            <a:pPr>
              <a:spcBef>
                <a:spcPts val="800"/>
              </a:spcBef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 WAL mode for concurrent performance</a:t>
            </a:r>
          </a:p>
          <a:p>
            <a:pPr>
              <a:spcBef>
                <a:spcPts val="800"/>
              </a:spcBef>
              <a:defRPr sz="1400" b="0">
                <a:solidFill>
                  <a:srgbClr val="CCCCDD"/>
                </a:solidFill>
                <a:latin typeface="Arial"/>
              </a:defRPr>
            </a:pPr>
            <a:r>
              <a:t>▸  Indexes on all foreign keys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Arial"/>
              </a:defRPr>
            </a:pPr>
            <a:r>
              <a:t>5 / 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API &amp; WebSocket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Arial"/>
              </a:defRPr>
            </a:pPr>
            <a:r>
              <a:t>REST API — 14 Endpoints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2103120"/>
          <a:ext cx="530352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4400"/>
                <a:gridCol w="274320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Method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Endpoint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Description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/api/auth/register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Create account with role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/api/auth/login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Get JWT token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/api/quizzes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List organizer's quizzes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/api/quizzes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Create new quiz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PUT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/api/quizzes/:id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Update quiz settings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/api/quizzes/:id/questions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Add question + options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/api/sessions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Create room (organizer)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POST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/api/sessions/:code/join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Join as participant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GET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/api/users/me/history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Participation history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Arial"/>
              </a:defRPr>
            </a:pPr>
            <a:r>
              <a:t>WebSocket — 11 Events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0" y="2103120"/>
          <a:ext cx="530352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1645920"/>
                <a:gridCol w="1645920"/>
              </a:tblGrid>
              <a:tr h="32004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Event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Direction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Purpose</a:t>
                      </a:r>
                    </a:p>
                  </a:txBody>
                  <a:tcPr marL="91440" marR="91440" marT="45720" marB="45720">
                    <a:solidFill>
                      <a:srgbClr val="1D4ED8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session:start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Org → 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Begin quiz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question:show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Server → All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Push question + timer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answer:submit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Player → Server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Submit response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question:closed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Server → All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Timeout / next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quiz:leaderboard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Server → All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Live rankings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quiz:finished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Server → All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Final results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organizer:stats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Server → Org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Live answer counts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answer:result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Server → Player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latin typeface="Arial"/>
                        </a:defRPr>
                      </a:pPr>
                      <a:r>
                        <a:t>Per-player feedback</a:t>
                      </a:r>
                    </a:p>
                  </a:txBody>
                  <a:tcPr marL="91440" marR="91440" marT="45720" marB="45720"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7" name="Rounded Rectangle 6"/>
          <p:cNvSpPr/>
          <p:nvPr/>
        </p:nvSpPr>
        <p:spPr>
          <a:xfrm>
            <a:off x="640080" y="5120640"/>
            <a:ext cx="10881360" cy="914400"/>
          </a:xfrm>
          <a:prstGeom prst="roundRect">
            <a:avLst/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/>
          <a:lstStyle/>
          <a:p>
            <a:pPr algn="ctr">
              <a:defRPr sz="1400">
                <a:solidFill>
                  <a:srgbClr val="1E293B"/>
                </a:solidFill>
                <a:latin typeface="Arial"/>
              </a:defRPr>
            </a:pPr>
            <a:r>
              <a:t>Server-enforced: Late answers rejected. Timer managed server-side. One answer per participant per question. Room-code-scoped socket rooms.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Arial"/>
              </a:defRPr>
            </a:pPr>
            <a:r>
              <a:t>6 / 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Development Stages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828800"/>
            <a:ext cx="2651760" cy="36576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1  Design &amp; Spec</a:t>
            </a:r>
          </a:p>
          <a:p>
            <a:pPr>
              <a:spcBef>
                <a:spcPts val="1000"/>
              </a:spcBef>
              <a:defRPr sz="1300">
                <a:solidFill>
                  <a:srgbClr val="AAAABB"/>
                </a:solidFill>
                <a:latin typeface="Arial"/>
              </a:defRPr>
            </a:pPr>
            <a:r>
              <a:t>Complete spec-as-code.</a:t>
            </a:r>
            <a:br/>
            <a:r>
              <a:t>Data models, API contracts,</a:t>
            </a:r>
            <a:br/>
            <a:r>
              <a:t>WebSocket protocol, UI states.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77240" y="5120640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 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520439" y="1828800"/>
            <a:ext cx="2651760" cy="36576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2  Backend</a:t>
            </a:r>
          </a:p>
          <a:p>
            <a:pPr>
              <a:spcBef>
                <a:spcPts val="1000"/>
              </a:spcBef>
              <a:defRPr sz="1300">
                <a:solidFill>
                  <a:srgbClr val="AAAABB"/>
                </a:solidFill>
                <a:latin typeface="Arial"/>
              </a:defRPr>
            </a:pPr>
            <a:r>
              <a:t>JWT auth, CRUD APIs,</a:t>
            </a:r>
            <a:br/>
            <a:r>
              <a:t>session management, room</a:t>
            </a:r>
            <a:br/>
            <a:r>
              <a:t>codes, WebSocket handler.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599" y="5120640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 Day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1828800"/>
            <a:ext cx="2651760" cy="36576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3  Frontend</a:t>
            </a:r>
          </a:p>
          <a:p>
            <a:pPr>
              <a:spcBef>
                <a:spcPts val="1000"/>
              </a:spcBef>
              <a:defRPr sz="1300">
                <a:solidFill>
                  <a:srgbClr val="AAAABB"/>
                </a:solidFill>
                <a:latin typeface="Arial"/>
              </a:defRPr>
            </a:pPr>
            <a:r>
              <a:t>10 pages: auth, dashboard,</a:t>
            </a:r>
            <a:br/>
            <a:r>
              <a:t>quiz editor, lobby, player</a:t>
            </a:r>
            <a:br/>
            <a:r>
              <a:t>room, profile. Real-time UI.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37960" y="5120640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 Days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281159" y="1828800"/>
            <a:ext cx="2651760" cy="3657600"/>
          </a:xfrm>
          <a:prstGeom prst="roundRect">
            <a:avLst/>
          </a:prstGeom>
          <a:solidFill>
            <a:srgbClr val="22223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 rIns="182880" tIns="137160" bIns="137160"/>
          <a:lstStyle/>
          <a:p>
            <a:pPr algn="ctr">
              <a:defRPr sz="2000" b="1">
                <a:solidFill>
                  <a:srgbClr val="FFFFFF"/>
                </a:solidFill>
                <a:latin typeface="Arial"/>
              </a:defRPr>
            </a:pPr>
            <a:r>
              <a:t>4  Integration</a:t>
            </a:r>
          </a:p>
          <a:p>
            <a:pPr>
              <a:spcBef>
                <a:spcPts val="1000"/>
              </a:spcBef>
              <a:defRPr sz="1300">
                <a:solidFill>
                  <a:srgbClr val="AAAABB"/>
                </a:solidFill>
                <a:latin typeface="Arial"/>
              </a:defRPr>
            </a:pPr>
            <a:r>
              <a:t>E2E API testing. Production</a:t>
            </a:r>
            <a:br/>
            <a:r>
              <a:t>build. CORS &amp; WebSocket</a:t>
            </a:r>
            <a:br/>
            <a:r>
              <a:t>setup. Documentation.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418319" y="5120640"/>
            <a:ext cx="1097280" cy="320040"/>
          </a:xfrm>
          <a:prstGeom prst="round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 Day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5852160"/>
            <a:ext cx="10881360" cy="502920"/>
          </a:xfrm>
          <a:prstGeom prst="roundRect">
            <a:avLst/>
          </a:prstGeom>
          <a:solidFill>
            <a:srgbClr val="1E3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/>
          <a:lstStyle/>
          <a:p>
            <a:pPr algn="ctr">
              <a:defRPr sz="1300">
                <a:solidFill>
                  <a:srgbClr val="99AABB"/>
                </a:solidFill>
                <a:latin typeface="Arial"/>
              </a:defRPr>
            </a:pPr>
            <a:r>
              <a:t>Parallel-first: Spec drove simultaneous backend &amp; frontend generation. Zero rework — API contracts matched from start.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Arial"/>
              </a:defRPr>
            </a:pPr>
            <a:r>
              <a:t>7 / 9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7E22C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rial"/>
              </a:defRPr>
            </a:pPr>
            <a:r>
              <a:t>Project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EE"/>
                </a:solidFill>
                <a:latin typeface="Arial"/>
              </a:defRPr>
            </a:pPr>
            <a:r>
              <a:t>Source Files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8036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~4,500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8036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EE"/>
                </a:solidFill>
                <a:latin typeface="Arial"/>
              </a:defRPr>
            </a:pPr>
            <a:r>
              <a:t>Lines of Code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12064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EE"/>
                </a:solidFill>
                <a:latin typeface="Arial"/>
              </a:defRPr>
            </a:pPr>
            <a:r>
              <a:t>API Endpoints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6092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6092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EE"/>
                </a:solidFill>
                <a:latin typeface="Arial"/>
              </a:defRPr>
            </a:pPr>
            <a:r>
              <a:t>WS Events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0" y="2286000"/>
            <a:ext cx="2011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3200400"/>
            <a:ext cx="20116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EE"/>
                </a:solidFill>
                <a:latin typeface="Arial"/>
              </a:defRPr>
            </a:pPr>
            <a:r>
              <a:t>UI Pages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411480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t>Production Bundle</a:t>
            </a:r>
          </a:p>
          <a:p>
            <a:pPr>
              <a:spcBef>
                <a:spcPts val="800"/>
              </a:spcBef>
              <a:defRPr sz="1600" b="0">
                <a:solidFill>
                  <a:srgbClr val="64748B"/>
                </a:solidFill>
                <a:latin typeface="Arial"/>
              </a:defRPr>
            </a:pPr>
            <a:r>
              <a:t>JavaScript:  257 KB  (80 KB gzip)</a:t>
            </a:r>
          </a:p>
          <a:p>
            <a:pPr>
              <a:spcBef>
                <a:spcPts val="800"/>
              </a:spcBef>
              <a:defRPr sz="1600" b="0">
                <a:solidFill>
                  <a:srgbClr val="64748B"/>
                </a:solidFill>
                <a:latin typeface="Arial"/>
              </a:defRPr>
            </a:pPr>
            <a:r>
              <a:t>CSS:            28 KB  (5 KB gzip)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0" y="4114800"/>
            <a:ext cx="5303520" cy="164592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4320" tIns="182880"/>
          <a:lstStyle/>
          <a:p>
            <a:pPr algn="ctr">
              <a:defRPr sz="1800" b="1">
                <a:solidFill>
                  <a:srgbClr val="1E293B"/>
                </a:solidFill>
                <a:latin typeface="Arial"/>
              </a:defRPr>
            </a:pPr>
            <a:r>
              <a:t>Quality</a:t>
            </a:r>
          </a:p>
          <a:p>
            <a:pPr>
              <a:spcBef>
                <a:spcPts val="800"/>
              </a:spcBef>
              <a:defRPr sz="1600" b="0">
                <a:solidFill>
                  <a:srgbClr val="64748B"/>
                </a:solidFill>
                <a:latin typeface="Arial"/>
              </a:defRPr>
            </a:pPr>
            <a:r>
              <a:t>✅  0 build errors</a:t>
            </a:r>
          </a:p>
          <a:p>
            <a:pPr>
              <a:spcBef>
                <a:spcPts val="800"/>
              </a:spcBef>
              <a:defRPr sz="1600" b="0">
                <a:solidFill>
                  <a:srgbClr val="64748B"/>
                </a:solidFill>
                <a:latin typeface="Arial"/>
              </a:defRPr>
            </a:pPr>
            <a:r>
              <a:t>✅  79 modules bundled</a:t>
            </a:r>
          </a:p>
          <a:p>
            <a:pPr>
              <a:spcBef>
                <a:spcPts val="800"/>
              </a:spcBef>
              <a:defRPr sz="1600" b="0">
                <a:solidFill>
                  <a:srgbClr val="64748B"/>
                </a:solidFill>
                <a:latin typeface="Arial"/>
              </a:defRPr>
            </a:pPr>
            <a:r>
              <a:t>✅  Full API test pass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CCCCEE"/>
                </a:solidFill>
                <a:latin typeface="Arial"/>
              </a:defRPr>
            </a:pPr>
            <a:r>
              <a:t>8 / 9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E293B"/>
                </a:solidFill>
                <a:latin typeface="Arial"/>
              </a:defRPr>
            </a:pPr>
            <a:r>
              <a:t>Feature Checklist &amp;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6A34A"/>
                </a:solidFill>
                <a:latin typeface="Arial"/>
              </a:defRPr>
            </a:pPr>
            <a:r>
              <a:t>Requirements Met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103120"/>
            <a:ext cx="50292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1E293B"/>
                </a:solidFill>
                <a:latin typeface="Arial"/>
              </a:defRPr>
            </a:pPr>
            <a:r>
              <a:t>✅  User registration with roles</a:t>
            </a:r>
          </a:p>
          <a:p>
            <a:pPr>
              <a:spcBef>
                <a:spcPts val="500"/>
              </a:spcBef>
              <a:defRPr sz="1500" b="0">
                <a:solidFill>
                  <a:srgbClr val="1E293B"/>
                </a:solidFill>
                <a:latin typeface="Arial"/>
              </a:defRPr>
            </a:pPr>
            <a:r>
              <a:t>✅  Quiz CRUD with categories &amp; settings</a:t>
            </a:r>
          </a:p>
          <a:p>
            <a:pPr>
              <a:spcBef>
                <a:spcPts val="500"/>
              </a:spcBef>
              <a:defRPr sz="1500" b="0">
                <a:solidFill>
                  <a:srgbClr val="1E293B"/>
                </a:solidFill>
                <a:latin typeface="Arial"/>
              </a:defRPr>
            </a:pPr>
            <a:r>
              <a:t>✅  4 question types (text/image × single/multi)</a:t>
            </a:r>
          </a:p>
          <a:p>
            <a:pPr>
              <a:spcBef>
                <a:spcPts val="500"/>
              </a:spcBef>
              <a:defRPr sz="1500" b="0">
                <a:solidFill>
                  <a:srgbClr val="1E293B"/>
                </a:solidFill>
                <a:latin typeface="Arial"/>
              </a:defRPr>
            </a:pPr>
            <a:r>
              <a:t>✅  Room code join system (6-char codes)</a:t>
            </a:r>
          </a:p>
          <a:p>
            <a:pPr>
              <a:spcBef>
                <a:spcPts val="500"/>
              </a:spcBef>
              <a:defRPr sz="1500" b="0">
                <a:solidFill>
                  <a:srgbClr val="1E293B"/>
                </a:solidFill>
                <a:latin typeface="Arial"/>
              </a:defRPr>
            </a:pPr>
            <a:r>
              <a:t>✅  Real-time sync via WebSocket</a:t>
            </a:r>
          </a:p>
          <a:p>
            <a:pPr>
              <a:spcBef>
                <a:spcPts val="500"/>
              </a:spcBef>
              <a:defRPr sz="1500" b="0">
                <a:solidFill>
                  <a:srgbClr val="1E293B"/>
                </a:solidFill>
                <a:latin typeface="Arial"/>
              </a:defRPr>
            </a:pPr>
            <a:r>
              <a:t>✅  Countdown timer (server-enforced)</a:t>
            </a:r>
          </a:p>
          <a:p>
            <a:pPr>
              <a:spcBef>
                <a:spcPts val="500"/>
              </a:spcBef>
              <a:defRPr sz="1500" b="0">
                <a:solidFill>
                  <a:srgbClr val="1E293B"/>
                </a:solidFill>
                <a:latin typeface="Arial"/>
              </a:defRPr>
            </a:pPr>
            <a:r>
              <a:t>✅  Auto-scoring &amp; live leaderboard</a:t>
            </a:r>
          </a:p>
          <a:p>
            <a:pPr>
              <a:spcBef>
                <a:spcPts val="500"/>
              </a:spcBef>
              <a:defRPr sz="1500" b="0">
                <a:solidFill>
                  <a:srgbClr val="1E293B"/>
                </a:solidFill>
                <a:latin typeface="Arial"/>
              </a:defRPr>
            </a:pPr>
            <a:r>
              <a:t>✅  Personal history &amp; statistics</a:t>
            </a:r>
          </a:p>
          <a:p>
            <a:pPr>
              <a:spcBef>
                <a:spcPts val="500"/>
              </a:spcBef>
              <a:defRPr sz="1500" b="0">
                <a:solidFill>
                  <a:srgbClr val="1E293B"/>
                </a:solidFill>
                <a:latin typeface="Arial"/>
              </a:defRPr>
            </a:pPr>
            <a:r>
              <a:t>✅  Responsive design (Tailwind CSS)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554480"/>
            <a:ext cx="5029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3B82F6"/>
                </a:solidFill>
                <a:latin typeface="Arial"/>
              </a:defRPr>
            </a:pPr>
            <a:r>
              <a:t>Links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0" y="210312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📂  Repository</a:t>
            </a:r>
          </a:p>
          <a:p>
            <a:pPr>
              <a:spcBef>
                <a:spcPts val="400"/>
              </a:spcBef>
              <a:defRPr sz="1200" b="0">
                <a:solidFill>
                  <a:srgbClr val="64748B"/>
                </a:solidFill>
                <a:latin typeface="Arial"/>
              </a:defRPr>
            </a:pPr>
            <a:r>
              <a:t>[GitHub URL]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0" y="301752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📋  Specification</a:t>
            </a:r>
          </a:p>
          <a:p>
            <a:pPr>
              <a:spcBef>
                <a:spcPts val="400"/>
              </a:spcBef>
              <a:defRPr sz="1200" b="0">
                <a:solidFill>
                  <a:srgbClr val="64748B"/>
                </a:solidFill>
                <a:latin typeface="Arial"/>
              </a:defRPr>
            </a:pPr>
            <a:r>
              <a:t>spec.md in repository root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393192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🎨  Mockups</a:t>
            </a:r>
          </a:p>
          <a:p>
            <a:pPr>
              <a:spcBef>
                <a:spcPts val="400"/>
              </a:spcBef>
              <a:defRPr sz="1200" b="0">
                <a:solidFill>
                  <a:srgbClr val="64748B"/>
                </a:solidFill>
                <a:latin typeface="Arial"/>
              </a:defRPr>
            </a:pPr>
            <a:r>
              <a:t>[Figma / Miro link]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846320"/>
            <a:ext cx="5029200" cy="7772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28600" tIns="91440"/>
          <a:lstStyle/>
          <a:p>
            <a:pPr algn="ctr">
              <a:defRPr sz="1600" b="1">
                <a:solidFill>
                  <a:srgbClr val="1E293B"/>
                </a:solidFill>
                <a:latin typeface="Arial"/>
              </a:defRPr>
            </a:pPr>
            <a:r>
              <a:t>🚀  Live Demo</a:t>
            </a:r>
          </a:p>
          <a:p>
            <a:pPr>
              <a:spcBef>
                <a:spcPts val="400"/>
              </a:spcBef>
              <a:defRPr sz="1200" b="0">
                <a:solidFill>
                  <a:srgbClr val="64748B"/>
                </a:solidFill>
                <a:latin typeface="Arial"/>
              </a:defRPr>
            </a:pPr>
            <a:r>
              <a:t>[Deployment URL]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943600"/>
            <a:ext cx="108813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3B82F6"/>
                </a:solidFill>
                <a:latin typeface="Arial"/>
              </a:defRPr>
            </a:pPr>
            <a:r>
              <a:t>🎯  Ready to run: npm run dev  —  Server :3000, Client :5173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6424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100" b="0">
                <a:solidFill>
                  <a:srgbClr val="64748B"/>
                </a:solidFill>
                <a:latin typeface="Arial"/>
              </a:defRPr>
            </a:pPr>
            <a:r>
              <a:t>9 / 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